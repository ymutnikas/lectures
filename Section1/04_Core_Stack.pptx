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2" d="100"/>
          <a:sy n="102" d="100"/>
        </p:scale>
        <p:origin x="2368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337"/>
            <a:ext cx="8229600" cy="6403931"/>
          </a:xfrm>
        </p:spPr>
        <p:txBody>
          <a:bodyPr lIns="90000">
            <a:noAutofit/>
          </a:bodyPr>
          <a:lstStyle/>
          <a:p>
            <a:pPr marL="0" indent="0">
              <a:buNone/>
            </a:pPr>
            <a:r>
              <a:rPr lang="en-GB" sz="1800" b="1" dirty="0">
                <a:cs typeface="Calibri" panose="020F0502020204030204" pitchFamily="34" charset="0"/>
              </a:rPr>
              <a:t>Scientific Computing</a:t>
            </a:r>
          </a:p>
          <a:p>
            <a:pPr marL="623888" lvl="1" indent="-223838"/>
            <a:r>
              <a:rPr sz="1600" dirty="0">
                <a:cs typeface="Calibri" panose="020F0502020204030204" pitchFamily="34" charset="0"/>
              </a:rPr>
              <a:t>NumPy</a:t>
            </a:r>
          </a:p>
          <a:p>
            <a:pPr marL="623888" lvl="1" indent="-223838"/>
            <a:r>
              <a:rPr sz="1600" dirty="0">
                <a:cs typeface="Calibri" panose="020F0502020204030204" pitchFamily="34" charset="0"/>
              </a:rPr>
              <a:t>SciP</a:t>
            </a:r>
            <a:r>
              <a:rPr lang="en-GB" sz="1600" dirty="0">
                <a:cs typeface="Calibri" panose="020F0502020204030204" pitchFamily="34" charset="0"/>
              </a:rPr>
              <a:t>y</a:t>
            </a:r>
          </a:p>
          <a:p>
            <a:pPr marL="400050" lvl="1" indent="0">
              <a:buNone/>
            </a:pPr>
            <a:endParaRPr sz="16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b="1" dirty="0"/>
              <a:t>Data Manipulation</a:t>
            </a:r>
          </a:p>
          <a:p>
            <a:pPr lvl="1"/>
            <a:r>
              <a:rPr lang="en-GB" sz="1600" dirty="0"/>
              <a:t>pandas</a:t>
            </a:r>
          </a:p>
          <a:p>
            <a:pPr lvl="1"/>
            <a:r>
              <a:rPr lang="en-GB" sz="1600" dirty="0" err="1"/>
              <a:t>pyarrow</a:t>
            </a:r>
            <a:endParaRPr lang="en-GB" sz="1600" dirty="0"/>
          </a:p>
          <a:p>
            <a:pPr lvl="1"/>
            <a:r>
              <a:rPr lang="en-GB" sz="1600" dirty="0"/>
              <a:t>polars</a:t>
            </a:r>
          </a:p>
          <a:p>
            <a:pPr lvl="1"/>
            <a:r>
              <a:rPr lang="en-GB" sz="1600" dirty="0"/>
              <a:t>Time-indexed &amp; tabular data</a:t>
            </a:r>
          </a:p>
          <a:p>
            <a:pPr lvl="1"/>
            <a:r>
              <a:rPr lang="en-GB" sz="1600" dirty="0"/>
              <a:t>requests</a:t>
            </a:r>
          </a:p>
          <a:p>
            <a:pPr lvl="1"/>
            <a:r>
              <a:rPr lang="en-GB" sz="1600" dirty="0" err="1"/>
              <a:t>Pyyaml</a:t>
            </a:r>
            <a:endParaRPr lang="en-GB" sz="1600" dirty="0"/>
          </a:p>
          <a:p>
            <a:pPr lvl="1"/>
            <a:r>
              <a:rPr lang="en-GB" sz="1600" dirty="0" err="1"/>
              <a:t>Sqlalchemy</a:t>
            </a:r>
            <a:endParaRPr lang="en-GB" sz="1600" dirty="0"/>
          </a:p>
          <a:p>
            <a:pPr marL="457200" lvl="1" indent="0">
              <a:buNone/>
            </a:pPr>
            <a:endParaRPr lang="en-GB" sz="1600" dirty="0"/>
          </a:p>
          <a:p>
            <a:pPr marL="57150" indent="0">
              <a:buNone/>
            </a:pPr>
            <a:r>
              <a:rPr lang="en-GB" sz="2000" b="1" dirty="0"/>
              <a:t>Data Visualization</a:t>
            </a:r>
          </a:p>
          <a:p>
            <a:pPr lvl="1"/>
            <a:r>
              <a:rPr lang="en-GB" sz="1600" dirty="0"/>
              <a:t>matplotlib</a:t>
            </a:r>
          </a:p>
          <a:p>
            <a:pPr lvl="1"/>
            <a:r>
              <a:rPr lang="en-GB" sz="1600" dirty="0"/>
              <a:t>seaborn</a:t>
            </a:r>
          </a:p>
          <a:p>
            <a:pPr lvl="1"/>
            <a:r>
              <a:rPr lang="en-GB" sz="1600" dirty="0" err="1"/>
              <a:t>plotly</a:t>
            </a:r>
            <a:endParaRPr lang="en-GB" sz="1600" dirty="0"/>
          </a:p>
          <a:p>
            <a:pPr lvl="1"/>
            <a:r>
              <a:rPr lang="en-GB" sz="1600" dirty="0"/>
              <a:t>Altair</a:t>
            </a:r>
          </a:p>
          <a:p>
            <a:pPr marL="0" indent="0">
              <a:buNone/>
            </a:pPr>
            <a:endParaRPr lang="en-GB" sz="2000" dirty="0"/>
          </a:p>
          <a:p>
            <a:pPr marL="57150" indent="0">
              <a:buNone/>
            </a:pPr>
            <a:r>
              <a:rPr lang="en-GB" sz="2000" dirty="0"/>
              <a:t>		</a:t>
            </a:r>
          </a:p>
          <a:p>
            <a:pPr marL="223838" indent="-223838"/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D022-2DD4-CBCA-6C5B-73E62679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B970-6257-F139-ABFF-37AE5D9D8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2337"/>
            <a:ext cx="8229600" cy="6403931"/>
          </a:xfrm>
        </p:spPr>
        <p:txBody>
          <a:bodyPr lIns="90000">
            <a:noAutofit/>
          </a:bodyPr>
          <a:lstStyle/>
          <a:p>
            <a:pPr marL="0" indent="0">
              <a:buNone/>
            </a:pPr>
            <a:r>
              <a:rPr lang="en-GB" sz="2000" b="1" dirty="0"/>
              <a:t>Statistics &amp; ML</a:t>
            </a:r>
          </a:p>
          <a:p>
            <a:pPr lvl="1"/>
            <a:r>
              <a:rPr lang="en-GB" sz="1600" dirty="0"/>
              <a:t>stats models</a:t>
            </a:r>
          </a:p>
          <a:p>
            <a:pPr lvl="1"/>
            <a:r>
              <a:rPr lang="en-GB" sz="1600" dirty="0"/>
              <a:t>scikit-learn</a:t>
            </a:r>
          </a:p>
          <a:p>
            <a:pPr lvl="1"/>
            <a:r>
              <a:rPr lang="en-GB" sz="1600" dirty="0" err="1"/>
              <a:t>XGBoost</a:t>
            </a:r>
            <a:r>
              <a:rPr lang="en-GB" sz="1600" dirty="0"/>
              <a:t> / </a:t>
            </a:r>
            <a:r>
              <a:rPr lang="en-GB" sz="1600" dirty="0" err="1"/>
              <a:t>LightGBM</a:t>
            </a:r>
            <a:r>
              <a:rPr lang="en-GB" sz="1600" dirty="0"/>
              <a:t> / </a:t>
            </a:r>
            <a:r>
              <a:rPr lang="en-GB" sz="1600" dirty="0" err="1"/>
              <a:t>CatBoost</a:t>
            </a:r>
            <a:endParaRPr lang="en-GB" sz="1600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Time Series &amp; Forecasting</a:t>
            </a:r>
          </a:p>
          <a:p>
            <a:pPr lvl="1"/>
            <a:r>
              <a:rPr lang="en-GB" sz="1600" dirty="0" err="1"/>
              <a:t>statsmodels.tsa</a:t>
            </a:r>
            <a:endParaRPr lang="en-GB" sz="1600" dirty="0"/>
          </a:p>
          <a:p>
            <a:pPr lvl="1"/>
            <a:r>
              <a:rPr lang="en-GB" sz="1600" dirty="0" err="1"/>
              <a:t>sktime</a:t>
            </a:r>
            <a:endParaRPr lang="en-GB" sz="1600" dirty="0"/>
          </a:p>
          <a:p>
            <a:pPr lvl="1"/>
            <a:r>
              <a:rPr lang="en-GB" sz="1600" dirty="0"/>
              <a:t>ruptures, stumpy</a:t>
            </a:r>
          </a:p>
          <a:p>
            <a:pPr lvl="1"/>
            <a:r>
              <a:rPr lang="en-GB" sz="1600" dirty="0"/>
              <a:t>prophet, orbit, darts, </a:t>
            </a:r>
            <a:r>
              <a:rPr lang="en-GB" sz="1600" dirty="0" err="1"/>
              <a:t>nixtla</a:t>
            </a:r>
            <a:endParaRPr lang="en-GB" sz="1600" dirty="0"/>
          </a:p>
          <a:p>
            <a:pPr lvl="1"/>
            <a:endParaRPr lang="en-GB" sz="1600" dirty="0"/>
          </a:p>
          <a:p>
            <a:pPr marL="0" indent="0">
              <a:buNone/>
            </a:pPr>
            <a:r>
              <a:rPr lang="en-GB" sz="1800" b="1" dirty="0"/>
              <a:t>Deep Learning</a:t>
            </a:r>
          </a:p>
          <a:p>
            <a:pPr lvl="1"/>
            <a:r>
              <a:rPr lang="en-GB" sz="1600" dirty="0" err="1"/>
              <a:t>PyTorch</a:t>
            </a:r>
            <a:endParaRPr lang="en-GB" sz="1600" dirty="0"/>
          </a:p>
          <a:p>
            <a:pPr lvl="1"/>
            <a:r>
              <a:rPr lang="en-GB" sz="1600" dirty="0" err="1"/>
              <a:t>tsai</a:t>
            </a:r>
            <a:endParaRPr lang="en-GB" sz="1600" dirty="0"/>
          </a:p>
          <a:p>
            <a:pPr lvl="1"/>
            <a:r>
              <a:rPr lang="en-GB" sz="1600" dirty="0"/>
              <a:t> </a:t>
            </a:r>
            <a:r>
              <a:rPr lang="en-GB" sz="1600" dirty="0" err="1"/>
              <a:t>torchforecasting</a:t>
            </a:r>
            <a:endParaRPr lang="en-GB" sz="1600" dirty="0"/>
          </a:p>
          <a:p>
            <a:pPr lvl="1"/>
            <a:r>
              <a:rPr lang="en-GB" sz="1600" dirty="0"/>
              <a:t>Orbit</a:t>
            </a:r>
          </a:p>
          <a:p>
            <a:pPr lvl="1"/>
            <a:r>
              <a:rPr lang="en-GB" sz="1600" dirty="0" err="1"/>
              <a:t>Tensorflow</a:t>
            </a:r>
            <a:r>
              <a:rPr lang="en-GB" sz="1600" dirty="0"/>
              <a:t>/</a:t>
            </a:r>
            <a:r>
              <a:rPr lang="en-GB" sz="1600" dirty="0" err="1"/>
              <a:t>keras</a:t>
            </a:r>
            <a:endParaRPr lang="en-GB" sz="1600" dirty="0"/>
          </a:p>
          <a:p>
            <a:pPr lvl="1"/>
            <a:endParaRPr lang="en-GB" sz="1600" dirty="0"/>
          </a:p>
          <a:p>
            <a:pPr marL="0" indent="0">
              <a:buNone/>
            </a:pPr>
            <a:r>
              <a:rPr lang="en-GB" sz="1800" b="1" dirty="0"/>
              <a:t>Network</a:t>
            </a:r>
          </a:p>
          <a:p>
            <a:pPr lvl="1"/>
            <a:r>
              <a:rPr lang="en-GB" sz="1600" dirty="0" err="1"/>
              <a:t>Igraph</a:t>
            </a:r>
            <a:endParaRPr lang="en-GB" sz="1600" dirty="0"/>
          </a:p>
          <a:p>
            <a:pPr lvl="1"/>
            <a:r>
              <a:rPr lang="en-GB" sz="1600" dirty="0" err="1"/>
              <a:t>networkx</a:t>
            </a:r>
            <a:endParaRPr lang="en-GB" sz="1600" dirty="0"/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  <a:p>
            <a:pPr marL="57150" indent="0">
              <a:buNone/>
            </a:pPr>
            <a:r>
              <a:rPr lang="en-GB" sz="2000" dirty="0"/>
              <a:t>	</a:t>
            </a:r>
          </a:p>
          <a:p>
            <a:pPr marL="223838" indent="-223838"/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5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29AA-4FD4-7DE4-62FD-9F39E366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8B69C-3AA7-6662-F7F6-CBD44163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2337"/>
            <a:ext cx="8229600" cy="6403931"/>
          </a:xfrm>
        </p:spPr>
        <p:txBody>
          <a:bodyPr lIns="90000">
            <a:noAutofit/>
          </a:bodyPr>
          <a:lstStyle/>
          <a:p>
            <a:pPr marL="0" indent="0">
              <a:buNone/>
            </a:pPr>
            <a:r>
              <a:rPr lang="en-GB" sz="1800" b="1" dirty="0"/>
              <a:t>Excluded</a:t>
            </a:r>
          </a:p>
          <a:p>
            <a:pPr lvl="1"/>
            <a:r>
              <a:rPr lang="en-GB" sz="1600" dirty="0"/>
              <a:t>Causality</a:t>
            </a:r>
          </a:p>
          <a:p>
            <a:pPr lvl="1"/>
            <a:r>
              <a:rPr lang="en-GB" sz="1600" dirty="0"/>
              <a:t>Bayesian modelling</a:t>
            </a:r>
          </a:p>
          <a:p>
            <a:pPr lvl="1"/>
            <a:r>
              <a:rPr lang="en-GB" sz="1600" dirty="0"/>
              <a:t>NLP</a:t>
            </a:r>
          </a:p>
          <a:p>
            <a:pPr lvl="1"/>
            <a:r>
              <a:rPr lang="en-GB" sz="1600" dirty="0"/>
              <a:t>LLM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  <a:p>
            <a:pPr marL="57150" indent="0">
              <a:buNone/>
            </a:pPr>
            <a:r>
              <a:rPr lang="en-GB" sz="2000" dirty="0"/>
              <a:t>	</a:t>
            </a:r>
          </a:p>
          <a:p>
            <a:pPr marL="223838" indent="-223838"/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D36CD-A48A-54FA-3514-7C0F13FD2E16}"/>
              </a:ext>
            </a:extLst>
          </p:cNvPr>
          <p:cNvSpPr txBox="1"/>
          <p:nvPr/>
        </p:nvSpPr>
        <p:spPr>
          <a:xfrm>
            <a:off x="1916483" y="3424302"/>
            <a:ext cx="4642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No need to chase ephemeral tools!</a:t>
            </a:r>
          </a:p>
        </p:txBody>
      </p:sp>
    </p:spTree>
    <p:extLst>
      <p:ext uri="{BB962C8B-B14F-4D97-AF65-F5344CB8AC3E}">
        <p14:creationId xmlns:p14="http://schemas.microsoft.com/office/powerpoint/2010/main" val="4059503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82</Words>
  <Application>Microsoft Macintosh PowerPoint</Application>
  <PresentationFormat>On-screen Show (4:3)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Yaacov Mutnikas</cp:lastModifiedBy>
  <cp:revision>2</cp:revision>
  <dcterms:created xsi:type="dcterms:W3CDTF">2013-01-27T09:14:16Z</dcterms:created>
  <dcterms:modified xsi:type="dcterms:W3CDTF">2025-12-16T12:24:38Z</dcterms:modified>
  <cp:category/>
</cp:coreProperties>
</file>