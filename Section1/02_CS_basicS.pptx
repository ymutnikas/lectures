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397" r:id="rId3"/>
    <p:sldId id="398" r:id="rId4"/>
    <p:sldId id="401" r:id="rId5"/>
    <p:sldId id="402" r:id="rId6"/>
    <p:sldId id="400" r:id="rId7"/>
    <p:sldId id="399" r:id="rId8"/>
    <p:sldId id="403" r:id="rId9"/>
    <p:sldId id="4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DA054-744E-228F-B913-0A245B264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8F8CD-4B41-8B5A-E3F0-8062DCA3F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E8A2C-7218-9169-EBF1-6D72C44F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9A2DC-0CBC-15BD-9738-7257B502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D8310-3D6A-C4D2-55FC-F5628A4E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3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8E19-E3A8-1A90-E8D7-DB13B1E2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5AFEC-4E16-CDF6-BCC9-4F4991CDC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28D62-CF05-3F74-5BBF-79F7E7139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1ADEA-426B-016F-50A0-42803908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69A1E-AA0B-0310-071F-B581297B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23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B7F1-219D-1EE7-5AAE-328737CD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7778D-45AA-DF4F-0954-C12D5A061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8A80D-1E6A-DD47-EA97-984B0037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646DD-7975-1195-B7C4-28D1995A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C90FD-D255-64A0-51E1-E869CB51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A9A0-BD97-2F9C-BD59-B126D17C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8025D-09A6-DB17-5000-ACB919BAA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D93BB-E6F2-49C8-47FA-EDAAE3290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8BF7E-8045-FA8D-66E7-B39CC733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B166B-F112-B814-4E7B-C05F833D0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64C50-F613-FE39-8468-9CCB4709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2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C416-B52F-9370-9F3D-CFE24635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63991-F553-5DA2-8AE9-B1BF11848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B6245-E176-2204-C13B-C5479B951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C2AE7-AAF8-68B4-538C-F2979107F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3A013-DF53-DB58-46C7-A1D097867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B7B8F-51A4-BFA1-6FA8-27CD5809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75CB9-6B58-B923-049A-7D469875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5DCF5-B1EA-28C4-274E-E3652273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8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2A6C-1A79-61DF-F18D-5FFE30BB5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A2AD7-1204-2E92-E95F-4579EC8D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479B9-61B7-48A0-23F3-E8FB803B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8AD41-CA0B-F1C0-286A-C7BE407A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2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EB01F6-80AC-1DFB-B782-792E140FC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A5687F-BEDC-F449-F632-7564205B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008D2-F217-7249-3751-E1AE727E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5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556F-A7DE-7398-CE31-0EE48F711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89F5F-3A5D-98DF-ED75-3644637D3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3AF00-17E7-C5DF-02C6-65A83957A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F4E4A-8A76-7EB8-0454-F3826FE0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4C376-5DE4-8A5B-624A-3D336EAB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BFA1D-CB67-8DEB-3E84-C1BECE43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9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D8E8-174D-4828-8B19-209B2E46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A3F38A-6F3B-83B4-4BA8-DBEB8186D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4B85C-AA93-75EB-E0C2-E5BFDC1F5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D495A-1EC4-B729-86BD-BC9CA481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5B7EC-42A9-E3A7-B052-781F4FAA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6644D-E5BC-EF58-2051-D7B597C8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7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76BB-446E-0E53-3F11-3CEE52DD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04FD4-2D23-CF87-BECC-567E8F163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F4F11-4D3A-142A-1F1A-1C9A833C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2DA58-BF85-A66A-D1EF-6629ACEE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56EF9-AC58-F663-A704-5EC56C42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2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F2036-6CEE-A106-A78F-2F37D1B36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E84F7-57A2-9A98-3686-711763CD9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6DF27-B2D8-7E5F-31EC-269388C8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46398-2300-7686-37FE-DC877A21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81DCC-65AE-959F-DDD2-3869C61E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80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B949F-5F51-04F8-12B8-70D9CFF7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EF30D-0065-4265-946E-9720218C6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EE642-2833-0D80-8064-E8777B65A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3EAC4-CCAA-FE42-A6B0-CD6265A014A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8F7DC-0327-1A04-E67C-EDDECBE77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65A21-016B-F206-58B2-4F7479826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E531E-F758-E841-9C1B-BC323D843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1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58D82-8ECE-C97F-D76B-0AC975BA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4DBB16-BBAA-9AE5-BAE1-EEFF6918F478}"/>
              </a:ext>
            </a:extLst>
          </p:cNvPr>
          <p:cNvSpPr txBox="1"/>
          <p:nvPr/>
        </p:nvSpPr>
        <p:spPr>
          <a:xfrm>
            <a:off x="505218" y="784209"/>
            <a:ext cx="1179116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Data Science is not standalone — it sits on top of Computer Science and Data Engineering.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1. Algorithms &amp; Computation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ML = algorithmic engineering (complexity, memory, optimization).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High-performance code, feasible models, faster experimenting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2. Software Engineering Foundations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Clean code, versioning, modularity, testing, documentation.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Enables reproducibility and robust pipelines.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3. Data Architecture &amp; Infrastructure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DS relies on CS-designed systems: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Databases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(SQL/NoSQL, time-series stores…)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Data formats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(Parquet, Arrow, CSV, JSON, HDF5…)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Distributed systems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(Spark, cloud storage layers…)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Data warehouses &amp; lakes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(Snowflake, 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BigQuery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, S3-based lakes…)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4. Data Pipelines &amp; Orchestration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ETL/ELT workflows (Airflow, Prefect 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Real-time streaming (Kafka, Kinesis….)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Ensures clean, reliable, timely data at scale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08BF7-CFE5-CAFC-08B4-56FF1153C2F9}"/>
              </a:ext>
            </a:extLst>
          </p:cNvPr>
          <p:cNvSpPr txBox="1"/>
          <p:nvPr/>
        </p:nvSpPr>
        <p:spPr>
          <a:xfrm>
            <a:off x="137785" y="147024"/>
            <a:ext cx="11548997" cy="6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Data Science Critical Dependence on Computer Science &amp; Data Architecture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73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FEB4-CAA5-867F-74CE-85072CD79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B7881E-E935-3033-F544-B11CBE528ACF}"/>
              </a:ext>
            </a:extLst>
          </p:cNvPr>
          <p:cNvSpPr txBox="1"/>
          <p:nvPr/>
        </p:nvSpPr>
        <p:spPr>
          <a:xfrm>
            <a:off x="505218" y="1122411"/>
            <a:ext cx="117911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5. Data Quality &amp; Governance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Schema management, data validation, metadata, lineage.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Data must be </a:t>
            </a:r>
            <a:r>
              <a:rPr lang="en-GB" sz="1400" i="1" dirty="0">
                <a:latin typeface="Calibri" panose="020F0502020204030204" pitchFamily="34" charset="0"/>
                <a:cs typeface="Calibri" panose="020F0502020204030204" pitchFamily="34" charset="0"/>
              </a:rPr>
              <a:t>accurate, consistent, complete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before ML touches it.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6. Storage, Archival, and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Tiered storage, backups, archival policies, GDPR/retention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Efficient access patterns matter (indexing, caching, partitioning).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7. Data-Related Risks in ML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Concept drift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(relationships change)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Data drift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(distribution shifts)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Feature decay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(pipelines break)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Data leakage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(future info leaks)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CS + monitoring systems are required to detect &amp; fix these.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8.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Productionisation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&amp; Lifecycle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CI/CD for ML, 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MLOps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, deployment patterns (REST, batch, streaming).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Monitoring performance, drift, latency, resource usage.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DE409-7865-E367-8DB3-B0622ADDC4AB}"/>
              </a:ext>
            </a:extLst>
          </p:cNvPr>
          <p:cNvSpPr txBox="1"/>
          <p:nvPr/>
        </p:nvSpPr>
        <p:spPr>
          <a:xfrm>
            <a:off x="137785" y="147024"/>
            <a:ext cx="11548997" cy="6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Data Science Critical Dependence on Computer Science &amp; Data Architecture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57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809D-5FD7-3EC2-0762-9FD93CD6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097604-7535-6AD9-B1C1-EC49057437BA}"/>
              </a:ext>
            </a:extLst>
          </p:cNvPr>
          <p:cNvSpPr txBox="1"/>
          <p:nvPr/>
        </p:nvSpPr>
        <p:spPr>
          <a:xfrm>
            <a:off x="1413110" y="1108656"/>
            <a:ext cx="8198723" cy="5420900"/>
          </a:xfrm>
          <a:prstGeom prst="rect">
            <a:avLst/>
          </a:prstGeom>
          <a:noFill/>
        </p:spPr>
        <p:txBody>
          <a:bodyPr wrap="square" lIns="90000">
            <a:noAutofit/>
          </a:bodyPr>
          <a:lstStyle/>
          <a:p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. Interpreted Languages (Python, R</a:t>
            </a:r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, JavaScript, Julia)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Code is executed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line-by-line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by an interpreter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Flexible, dynamic, great for rapid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Slower than compiled languages — but fine for DS when paired with fast libraries (NumPy, 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Easy debugging and experimentation → perfect for notebooks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2. Compiled Languages (C, C++, Rust, Java)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Code is translated into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machine code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before running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Much faster, more memory-efficient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Stricter, harder to prototype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E2A593-7C39-8C39-F2F9-4D8B2B18430A}"/>
              </a:ext>
            </a:extLst>
          </p:cNvPr>
          <p:cNvSpPr txBox="1"/>
          <p:nvPr/>
        </p:nvSpPr>
        <p:spPr>
          <a:xfrm>
            <a:off x="137785" y="147025"/>
            <a:ext cx="11548997" cy="541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800" b="1" dirty="0"/>
              <a:t>Core Language Concepts - Interpreted vs. Compiled</a:t>
            </a:r>
          </a:p>
          <a:p>
            <a:r>
              <a:rPr lang="en-GB" sz="2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586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CB497-E6E7-7E03-AC5B-ECFEE6AD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8DEAF8-B8BE-EBFA-D88D-F5B0D3113A23}"/>
              </a:ext>
            </a:extLst>
          </p:cNvPr>
          <p:cNvSpPr txBox="1"/>
          <p:nvPr/>
        </p:nvSpPr>
        <p:spPr>
          <a:xfrm>
            <a:off x="400835" y="990967"/>
            <a:ext cx="11791165" cy="5207813"/>
          </a:xfrm>
          <a:prstGeom prst="rect">
            <a:avLst/>
          </a:prstGeom>
          <a:noFill/>
        </p:spPr>
        <p:txBody>
          <a:bodyPr wrap="square" lIns="90000">
            <a:no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1. Procedural Languages (C, early Python style)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Program is a sequence of explicit steps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Control flow is everything: loops, conditions, state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Simple mental model, great for small scripts</a:t>
            </a:r>
            <a:b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Challenges: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Can become messy and unstructured as complexity grows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Much code duplication of repetitive tasks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2. Functional Programming (modern Python, Scala, F#, data pipelines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Programs are built from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, not steps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Emphasizes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pure functions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(no side effects,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no shared state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Great for data transformations, pipelines, and parallel computation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Reusable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3. Declarative Languages (SQL, HTML,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Prolog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APIs)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You describe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you want, not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to compute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Under the hood, the engine optimizes execution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Often used for data queries, configuration, analytical expressions</a:t>
            </a:r>
            <a:b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(price) FROM trades — no loops, no steps, just intent</a:t>
            </a:r>
            <a:endParaRPr lang="en-GB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D911BD-FCC8-1551-07AC-8059A0A83EBC}"/>
              </a:ext>
            </a:extLst>
          </p:cNvPr>
          <p:cNvSpPr txBox="1"/>
          <p:nvPr/>
        </p:nvSpPr>
        <p:spPr>
          <a:xfrm>
            <a:off x="137785" y="147025"/>
            <a:ext cx="11548997" cy="541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800" b="1" dirty="0"/>
              <a:t>Core Language Concepts - • Procedural vs. Functional vs. Declarative </a:t>
            </a:r>
          </a:p>
        </p:txBody>
      </p:sp>
    </p:spTree>
    <p:extLst>
      <p:ext uri="{BB962C8B-B14F-4D97-AF65-F5344CB8AC3E}">
        <p14:creationId xmlns:p14="http://schemas.microsoft.com/office/powerpoint/2010/main" val="215463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1DC3-71BC-1957-CF61-84A3E75FD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EAD8DA-4161-37AE-E105-088C85B3168A}"/>
              </a:ext>
            </a:extLst>
          </p:cNvPr>
          <p:cNvSpPr txBox="1"/>
          <p:nvPr/>
        </p:nvSpPr>
        <p:spPr>
          <a:xfrm>
            <a:off x="400835" y="895273"/>
            <a:ext cx="11791165" cy="5611852"/>
          </a:xfrm>
          <a:prstGeom prst="rect">
            <a:avLst/>
          </a:prstGeom>
          <a:noFill/>
        </p:spPr>
        <p:txBody>
          <a:bodyPr wrap="square" lIns="90000">
            <a:noAutofit/>
          </a:bodyPr>
          <a:lstStyle/>
          <a:p>
            <a:r>
              <a:rPr lang="en-GB" sz="1400" b="1" dirty="0"/>
              <a:t>OOP structures code around  i.e. data and behaviour, therefore easier to manage complexity in larger systems</a:t>
            </a:r>
          </a:p>
          <a:p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OOP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Code is organized into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classes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(templates) and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objects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(instances).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A class defines: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Attributes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→ data/state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→ functions acting on that data</a:t>
            </a:r>
          </a:p>
          <a:p>
            <a:br>
              <a:rPr lang="en-GB" sz="1400" dirty="0"/>
            </a:b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Pros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Encapsulation: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keep data + logic together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Reusability: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classes can be reused across projects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Modularity: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easier to maintain, extend, and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Inheritance: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build new classes from existing 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Pseudo standard: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ML frameworks (scikit-learn, 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) are OOP at the core</a:t>
            </a:r>
            <a:b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Model wrappers (scikit-learn estimators)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Simulation frameworks (e.g. state-space models)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Reusable feature engineering pipelines</a:t>
            </a:r>
          </a:p>
          <a:p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Complexity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Harder for beginners — abstract concepts (inheritance, polymorphism)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Over-engineering risk — too many small classes = confusion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State management can get messy if not carefully designed</a:t>
            </a:r>
          </a:p>
          <a:p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D5F31-BC62-1B35-FDB5-39EB7A489EFE}"/>
              </a:ext>
            </a:extLst>
          </p:cNvPr>
          <p:cNvSpPr txBox="1"/>
          <p:nvPr/>
        </p:nvSpPr>
        <p:spPr>
          <a:xfrm>
            <a:off x="137785" y="147025"/>
            <a:ext cx="11548997" cy="541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800" b="1" dirty="0"/>
              <a:t>Core Language Concepts - Object-Oriented Programming (OOP)</a:t>
            </a:r>
          </a:p>
          <a:p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40643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2C7E-5DD1-EA64-CF91-C0C0153A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F8C8FD-4E55-2C4B-0FCE-36D36FA9D947}"/>
              </a:ext>
            </a:extLst>
          </p:cNvPr>
          <p:cNvSpPr txBox="1"/>
          <p:nvPr/>
        </p:nvSpPr>
        <p:spPr>
          <a:xfrm>
            <a:off x="505218" y="1122411"/>
            <a:ext cx="117911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1. Core Python Syntax &amp; Control 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Variables &amp; types (int, float, str)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Loops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: for, while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Conditionals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: if / 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/ else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: def, arguments, return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List comprehensions (Pythonic iteration)</a:t>
            </a:r>
          </a:p>
          <a:p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2. Essential Data Structures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Lists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– ordered collections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Tuples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– immutable groups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Dictionaries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– key/value lookups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Sets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– unique elements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Choosing the right structure → faster, cleaner code</a:t>
            </a:r>
          </a:p>
          <a:p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3. Numerical &amp; Array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NumPy arrays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Vectorized math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Matrices &amp; linear algebra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Broadcasting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Efficient computation for ML &amp; time-series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50B8B-ACEB-74E7-C00E-37996AF70E31}"/>
              </a:ext>
            </a:extLst>
          </p:cNvPr>
          <p:cNvSpPr txBox="1"/>
          <p:nvPr/>
        </p:nvSpPr>
        <p:spPr>
          <a:xfrm>
            <a:off x="137785" y="147024"/>
            <a:ext cx="11548997" cy="6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Python Language Fundamentals for Data Science</a:t>
            </a:r>
          </a:p>
        </p:txBody>
      </p:sp>
    </p:spTree>
    <p:extLst>
      <p:ext uri="{BB962C8B-B14F-4D97-AF65-F5344CB8AC3E}">
        <p14:creationId xmlns:p14="http://schemas.microsoft.com/office/powerpoint/2010/main" val="938102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5FF94-72D3-FA72-87FB-747989AF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272E51-30E4-56A0-103C-3EC5131C7A57}"/>
              </a:ext>
            </a:extLst>
          </p:cNvPr>
          <p:cNvSpPr txBox="1"/>
          <p:nvPr/>
        </p:nvSpPr>
        <p:spPr>
          <a:xfrm>
            <a:off x="542796" y="909469"/>
            <a:ext cx="1179116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4. Data Access &amp;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Reading/writing: CSV, JSON, Parquet, Excel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File I/O (open, with)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APIs (HTTP requests), databases (SQL connectors)</a:t>
            </a:r>
          </a:p>
          <a:p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DataFrames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(pandas, polars) (distributed: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dask</a:t>
            </a:r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, spark)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Series vs 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DataFrame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Filtering, joining, grouping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Missing values, indexing, datetime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Core tool for transforming raw data → model-ready data</a:t>
            </a:r>
          </a:p>
          <a:p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6. Plotting &amp; Visualization Basics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Matplotlib, Seaborn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Line, scatter, histograms, heatmaps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Quick EDA for understanding data patterns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4A345-977B-B5C0-78E2-D89B1F36ABCE}"/>
              </a:ext>
            </a:extLst>
          </p:cNvPr>
          <p:cNvSpPr txBox="1"/>
          <p:nvPr/>
        </p:nvSpPr>
        <p:spPr>
          <a:xfrm>
            <a:off x="137785" y="147024"/>
            <a:ext cx="11548997" cy="6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Python Language Fundamentals for Data Science</a:t>
            </a:r>
          </a:p>
        </p:txBody>
      </p:sp>
    </p:spTree>
    <p:extLst>
      <p:ext uri="{BB962C8B-B14F-4D97-AF65-F5344CB8AC3E}">
        <p14:creationId xmlns:p14="http://schemas.microsoft.com/office/powerpoint/2010/main" val="367542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8BDD7-37B9-BD3A-AB40-494DA827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3F5FF4-4A22-F2B9-29DE-65EACDD7E5FE}"/>
              </a:ext>
            </a:extLst>
          </p:cNvPr>
          <p:cNvSpPr txBox="1"/>
          <p:nvPr/>
        </p:nvSpPr>
        <p:spPr>
          <a:xfrm>
            <a:off x="137785" y="147024"/>
            <a:ext cx="11548997" cy="6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800" b="1" dirty="0"/>
              <a:t>Functional Example to OOP</a:t>
            </a:r>
          </a:p>
          <a:p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1DB4E93-73D8-147B-F3E3-C5983525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08" y="1063980"/>
            <a:ext cx="5413277" cy="42350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71F979F-0BF6-FABC-F990-BCDAA5B35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083" y="1063980"/>
            <a:ext cx="4966766" cy="42350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BA67F7-8468-8B2F-A1DF-C8B69DA456AA}"/>
              </a:ext>
            </a:extLst>
          </p:cNvPr>
          <p:cNvSpPr txBox="1"/>
          <p:nvPr/>
        </p:nvSpPr>
        <p:spPr>
          <a:xfrm>
            <a:off x="2215033" y="5578844"/>
            <a:ext cx="5453994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Functional: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stateless, direct, minimal overhead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OOP: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structured, reusable, good for complex systems</a:t>
            </a:r>
          </a:p>
        </p:txBody>
      </p:sp>
    </p:spTree>
    <p:extLst>
      <p:ext uri="{BB962C8B-B14F-4D97-AF65-F5344CB8AC3E}">
        <p14:creationId xmlns:p14="http://schemas.microsoft.com/office/powerpoint/2010/main" val="174938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C8457-A222-1803-72B2-00177B13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73CCF7-23C0-0ABE-0667-CE69DF621D95}"/>
              </a:ext>
            </a:extLst>
          </p:cNvPr>
          <p:cNvSpPr txBox="1"/>
          <p:nvPr/>
        </p:nvSpPr>
        <p:spPr>
          <a:xfrm>
            <a:off x="137785" y="147024"/>
            <a:ext cx="11548997" cy="6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Core Concepts - Multithreading, Multiprocessing, and GPU’s</a:t>
            </a:r>
          </a:p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43397-241C-E858-82A3-44C0994E5836}"/>
              </a:ext>
            </a:extLst>
          </p:cNvPr>
          <p:cNvSpPr txBox="1"/>
          <p:nvPr/>
        </p:nvSpPr>
        <p:spPr>
          <a:xfrm>
            <a:off x="258643" y="921783"/>
            <a:ext cx="4961943" cy="3385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0000" rtlCol="0">
            <a:no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Multithreading</a:t>
            </a:r>
          </a:p>
          <a:p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Multiple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threads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inside one Python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All threads share the same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Lightweight and good for I/O-bound tasks ,network calls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Limited by the GIL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- one thread can execute Python at a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Not for CPU-heavy numeric loops written in pure Python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Use cases: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Downloading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Calling APIs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Reading/writing many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Handling I/O concurrency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44E46-20BC-0D83-7036-AAD7CF39233B}"/>
              </a:ext>
            </a:extLst>
          </p:cNvPr>
          <p:cNvSpPr txBox="1"/>
          <p:nvPr/>
        </p:nvSpPr>
        <p:spPr>
          <a:xfrm>
            <a:off x="6301480" y="921783"/>
            <a:ext cx="5181683" cy="34470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Multiprocessing</a:t>
            </a:r>
          </a:p>
          <a:p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Multiple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, each with its own Python interpreter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Each process has its own memory - avoids GIL completely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Allows true parallelism across CPU 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More overhead (process creation, data serialization)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Best for CPU-bound tasks that need real parallel computation</a:t>
            </a:r>
            <a:b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Use cases: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Numerical computation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Heavy data transformations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Simulations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Feature engineering across large chunks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Anything that maxes out CPUs</a:t>
            </a:r>
          </a:p>
          <a:p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18D34-AE63-2711-A5DB-BD70DD97F970}"/>
              </a:ext>
            </a:extLst>
          </p:cNvPr>
          <p:cNvSpPr txBox="1"/>
          <p:nvPr/>
        </p:nvSpPr>
        <p:spPr>
          <a:xfrm>
            <a:off x="3321441" y="4444899"/>
            <a:ext cx="7236689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Thousands of lightweight cores designed for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math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Best for tensor operations: matrix multiplications, deep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Requires CUDA(</a:t>
            </a:r>
            <a:r>
              <a:rPr lang="en-GB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NVIDIA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)/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ROCm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AMD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) and GPU-friendly libraries (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, TensorFlow, JAX, </a:t>
            </a:r>
            <a:r>
              <a:rPr lang="en-GB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CuPy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Not general-purpose like CPUs — optimized for linear algebra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Vectorized math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Large matrix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Acceleration of numerical models</a:t>
            </a:r>
          </a:p>
        </p:txBody>
      </p:sp>
    </p:spTree>
    <p:extLst>
      <p:ext uri="{BB962C8B-B14F-4D97-AF65-F5344CB8AC3E}">
        <p14:creationId xmlns:p14="http://schemas.microsoft.com/office/powerpoint/2010/main" val="1226493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1167</Words>
  <Application>Microsoft Macintosh PowerPoint</Application>
  <PresentationFormat>Widescreen</PresentationFormat>
  <Paragraphs>178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Yaacov Mutnikas</dc:creator>
  <cp:keywords/>
  <dc:description/>
  <cp:lastModifiedBy>Yaacov Mutnikas</cp:lastModifiedBy>
  <cp:revision>3</cp:revision>
  <dcterms:created xsi:type="dcterms:W3CDTF">2025-11-22T11:39:15Z</dcterms:created>
  <dcterms:modified xsi:type="dcterms:W3CDTF">2026-01-29T21:27:15Z</dcterms:modified>
  <cp:category/>
</cp:coreProperties>
</file>